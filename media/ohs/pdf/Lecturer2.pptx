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26" r:id="rId3"/>
    <p:sldId id="394" r:id="rId4"/>
    <p:sldId id="415" r:id="rId5"/>
    <p:sldId id="417" r:id="rId6"/>
    <p:sldId id="419" r:id="rId7"/>
    <p:sldId id="420" r:id="rId8"/>
    <p:sldId id="421" r:id="rId9"/>
    <p:sldId id="422" r:id="rId10"/>
    <p:sldId id="423" r:id="rId11"/>
    <p:sldId id="429" r:id="rId12"/>
    <p:sldId id="437" r:id="rId13"/>
    <p:sldId id="430" r:id="rId14"/>
    <p:sldId id="431" r:id="rId15"/>
    <p:sldId id="377" r:id="rId16"/>
    <p:sldId id="378" r:id="rId17"/>
    <p:sldId id="379" r:id="rId18"/>
    <p:sldId id="380" r:id="rId19"/>
    <p:sldId id="381" r:id="rId20"/>
    <p:sldId id="382" r:id="rId21"/>
    <p:sldId id="384" r:id="rId22"/>
    <p:sldId id="438" r:id="rId23"/>
    <p:sldId id="439" r:id="rId24"/>
    <p:sldId id="440" r:id="rId25"/>
    <p:sldId id="44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DC923-ECF5-4D33-8179-E12C00A3E71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1413D-CB93-4A9A-AB29-2F6A43373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7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EC05C-FD68-4DC0-B713-5F06BCCABC5B}" type="slidenum">
              <a:rPr lang="ar-EG" smtClean="0"/>
              <a:pPr/>
              <a:t>1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1464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842A-DA80-F402-359C-4A8090322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4D43B-5989-ABF7-51DC-6F0C50FC2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46876-039C-686E-0F8D-CCADAE82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59094-09FD-49E8-C73F-83B71368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3915E-6CB8-B323-ADE2-DD972810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4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F06E-88CB-5113-5E06-A1B2FF07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CE5A-EF00-118A-78BE-5B5454BC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9ECFD-CA4D-8C08-400C-DED79BF0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E7323-7668-4B8E-CB79-CFDCA24D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D8F7-FCE6-A289-1205-32A9BB1C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4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01D4-7943-36F7-ABBB-7B62D602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005E5-A872-BD76-CA4A-6918A2B9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6AC64-8057-E384-BC4D-121B6F0F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C838-10C8-CD51-04A0-2D10E845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A9C65-EC93-BF57-7B56-65C6D86D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5650-072F-F26F-7449-16DADA7DB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B496-39A6-AAA3-E49E-F0D8B07C6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6770C-9118-8E03-A92F-492F82A0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3C31B-8E68-5840-B6FA-144041E3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7123-B7C9-FC00-9AA2-4586832B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24793-C17F-7F61-37AE-C0FFA8BA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5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647B-92A2-4E03-DB15-5E82CCFC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D4162-ACFE-E264-37E1-7479E6B5D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16D3B-F694-09B6-686B-E132A2E1E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1332E-14C4-933D-E72C-F9644FD1B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25D73-0EAC-C8B8-A799-D667FD68D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57CE9-D954-F989-5C17-56B82DB7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7C8FC-2AF8-6938-5E2A-F28E5DD4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20F29-D946-58BE-9066-53A30EF80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1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A194-6FCF-9FAA-494C-C3743827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FE5CD-52E2-B66B-F448-30F4E8D3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5C439-94E1-2421-8A1C-5C0E01A9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F29D3-80A5-D60D-B758-88E1299A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53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7719F-4C13-2FC4-F8DA-AE786049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60742-C7DE-8FF3-1CA2-155AB377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539C-7712-520F-471E-642F45CB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FC45-1756-4CAC-C638-FDFEE0DD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4C428-1638-E620-0AE7-E7B1EEF3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03C2D-1DFB-B5A4-4857-3769B6606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3CB22-953F-421A-3E4F-8F8EC54A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A09E7-8967-C3C7-6FCE-8261A496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1011E-AA6C-BBEA-BFC1-5F07856E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6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939D-710B-1ACC-B65F-CC29ACE5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6D012-A124-36E6-7A9E-C0DDB8249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434B9-0298-66BC-B751-3993FD751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C90BB-926C-91A2-118D-4F8A2104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0AAB9-09A2-3CBE-F622-54631FC4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150EB-9244-2D84-26A5-228F74F1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4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FE16-22F8-0AED-5DE3-E5CD5E6D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E48D4-B9EC-9931-F150-793BEE21D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B2248-1BD1-B814-9240-949E9035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A083-A7E6-6798-D308-010667EF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64A59-588B-0A0C-6E92-6AB794DC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A7C48-3D81-DD9F-182D-A30E48C2C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F96F4-56A4-13DD-D38D-19176F08B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4C47-0CD5-2A68-07D2-D8CA2A45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57A-8988-112D-6520-4F223A6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579D-0970-0CE3-D3ED-D9D6EB5C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7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C0579-1ECA-9993-9EC2-1F59674D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8D5D0-A4E6-5C41-CF0A-E153CC89D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7748-8FCE-69E9-B1DB-6CEA6425F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91CDB-99E8-481F-9E41-A5CF43A3626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470DD-DB68-581F-E87C-3D288C68A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AD6C-8739-4A58-D9DE-4AE450A01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C3C98-544E-4179-A20A-B266539D1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image" Target="http://tm.wc.ask.com/r?t=c&amp;s=p&amp;id=30751&amp;sv=z6f5372f1&amp;uid=2d92d053bd92d053b&amp;sid=3d92d053bd92d053b&amp;p=%2fimagetop&amp;o=0&amp;u=http://www.allcleanservices.co.uk/pictures/safety2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10" Type="http://schemas.openxmlformats.org/officeDocument/2006/relationships/image" Target="../media/image5.jpeg"/><Relationship Id="rId4" Type="http://schemas.openxmlformats.org/officeDocument/2006/relationships/image" Target="http://www.atkinsglobal.com/wsainternet/aboutus/healthandsafety/images/1061726_safety.jpg" TargetMode="External"/><Relationship Id="rId9" Type="http://schemas.openxmlformats.org/officeDocument/2006/relationships/hyperlink" Target="http://tm.wc.ask.com/r?t=c&amp;s=p&amp;id=30751&amp;sv=za5cb0dd4&amp;uid=01CEDD16E1D34B114&amp;sid=19F7331A68CE12214&amp;p=/imagetop&amp;o=0&amp;u=http://adzplus.com/drum_handling_equipment.jp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SO_7010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1808" y="1484312"/>
            <a:ext cx="7772400" cy="1470025"/>
          </a:xfrm>
        </p:spPr>
        <p:txBody>
          <a:bodyPr/>
          <a:lstStyle/>
          <a:p>
            <a:pPr algn="ctr" rtl="0"/>
            <a:r>
              <a:rPr lang="en-US" sz="4400" b="1" dirty="0"/>
              <a:t>Health and Safety</a:t>
            </a:r>
            <a:endParaRPr lang="ar-EG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67608" y="3429000"/>
            <a:ext cx="6400800" cy="1752600"/>
          </a:xfrm>
        </p:spPr>
        <p:txBody>
          <a:bodyPr>
            <a:normAutofit/>
          </a:bodyPr>
          <a:lstStyle/>
          <a:p>
            <a:pPr algn="ctr" rtl="0"/>
            <a:r>
              <a:rPr lang="en-US" sz="2800" dirty="0"/>
              <a:t>By</a:t>
            </a:r>
          </a:p>
          <a:p>
            <a:pPr algn="ctr" rtl="0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Hussein Sayed </a:t>
            </a:r>
          </a:p>
        </p:txBody>
      </p:sp>
      <p:pic>
        <p:nvPicPr>
          <p:cNvPr id="5" name="Picture 19" descr="Atkins: health &amp; safety management policy"/>
          <p:cNvPicPr>
            <a:picLocks noChangeAspect="1" noChangeArrowheads="1"/>
          </p:cNvPicPr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914" y="5448300"/>
            <a:ext cx="1335087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72" t="18729" r="35368" b="65907"/>
          <a:stretch>
            <a:fillRect/>
          </a:stretch>
        </p:blipFill>
        <p:spPr bwMode="auto">
          <a:xfrm>
            <a:off x="1524001" y="1"/>
            <a:ext cx="1395413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43" t="56424" r="52426" b="24242"/>
          <a:stretch>
            <a:fillRect/>
          </a:stretch>
        </p:blipFill>
        <p:spPr bwMode="auto">
          <a:xfrm>
            <a:off x="1524001" y="5443538"/>
            <a:ext cx="1395413" cy="141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0" t="34636" r="54834" b="44119"/>
          <a:stretch>
            <a:fillRect/>
          </a:stretch>
        </p:blipFill>
        <p:spPr bwMode="auto">
          <a:xfrm>
            <a:off x="1524001" y="2235200"/>
            <a:ext cx="1395413" cy="165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8" descr="http://tm.wc.ask.com/r?t=c&amp;s=p&amp;id=30751&amp;sv=z6f5372f1&amp;uid=2d92d053bd92d053b&amp;sid=3d92d053bd92d053b&amp;p=%2fimagetop&amp;o=0&amp;u=http://www.allcleanservices.co.uk/pictures/safety2.jpg"/>
          <p:cNvPicPr>
            <a:picLocks noChangeAspect="1" noChangeArrowheads="1"/>
          </p:cNvPicPr>
          <p:nvPr/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033463"/>
            <a:ext cx="1395413" cy="118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1" descr="basic chemicals manufacturers, electroplating chemicals, chrome chemicals, boron chemical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0" r="16719"/>
          <a:stretch>
            <a:fillRect/>
          </a:stretch>
        </p:blipFill>
        <p:spPr bwMode="auto">
          <a:xfrm>
            <a:off x="1524001" y="4073526"/>
            <a:ext cx="1395413" cy="137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6" t="34462" r="35938" b="43945"/>
          <a:stretch>
            <a:fillRect/>
          </a:stretch>
        </p:blipFill>
        <p:spPr bwMode="auto">
          <a:xfrm>
            <a:off x="2919413" y="5448300"/>
            <a:ext cx="18034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41" t="56424" r="35791" b="24437"/>
          <a:stretch>
            <a:fillRect/>
          </a:stretch>
        </p:blipFill>
        <p:spPr bwMode="auto">
          <a:xfrm>
            <a:off x="4741864" y="5457826"/>
            <a:ext cx="1557337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90" t="19293" r="46159" b="65907"/>
          <a:stretch>
            <a:fillRect/>
          </a:stretch>
        </p:blipFill>
        <p:spPr bwMode="auto">
          <a:xfrm>
            <a:off x="7385051" y="5448300"/>
            <a:ext cx="1954213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0" descr="http://images.picsearch.com/is?233189290993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448300"/>
            <a:ext cx="10350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97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865FD-5A14-3B91-5390-0B74AC08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98571-A1B7-85CE-6C20-5727ED7B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2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5528E-EB49-6A63-ADA1-AF18D3DD6570}"/>
              </a:ext>
            </a:extLst>
          </p:cNvPr>
          <p:cNvGraphicFramePr>
            <a:graphicFrameLocks noGrp="1"/>
          </p:cNvGraphicFramePr>
          <p:nvPr/>
        </p:nvGraphicFramePr>
        <p:xfrm>
          <a:off x="530942" y="845820"/>
          <a:ext cx="11179277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521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020756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Roles and Responsibilities in Health &amp; Safety</a:t>
                      </a:r>
                    </a:p>
                    <a:p>
                      <a:pPr algn="l" rtl="0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Health and safety is a shared responsibility:</a:t>
                      </a:r>
                    </a:p>
                    <a:p>
                      <a:pPr lvl="0" algn="l" rtl="0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Employers must: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Identify hazards and assess risks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Provide training and personal protective equipment (PPE)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Maintain equipment and safe systems of work</a:t>
                      </a:r>
                    </a:p>
                    <a:p>
                      <a:pPr lvl="0" algn="l" rtl="0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Employees must: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Follow safety procedures and use PPE correctly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Report unsafe conditions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Participate in safety training</a:t>
                      </a:r>
                    </a:p>
                    <a:p>
                      <a:pPr lvl="0" algn="l" rtl="0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Supervisors &amp; Safety Officers must: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Monitor compliance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Conduct risk assessments and inspections</a:t>
                      </a:r>
                    </a:p>
                    <a:p>
                      <a:pPr marL="800100" lvl="1" indent="-34290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Update policies as new risks emerge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الأدوار والمسؤوليات في الصحة والسلامة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الصحة والسلامة مسؤولية مشتركة: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• يجب على أصحاب العمل: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تحديد المخاطر وتقييمها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توفير التدريب ومعدات الوقاية الشخصية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صيانة المعدات وأنظمة العمل الآمنة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• يجب على الموظفين: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اتباع إجراءات السلامة واستخدام معدات الوقاية الشخصية بشكل صحيح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الإبلاغ عن الظروف غير الآمنة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المشاركة في تدريبات السلامة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• يجب على المشرفين ومسؤولي السلامة: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مراقبة الامتثال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إجراء تقييمات المخاطر وعمليات التفتيش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algn="r" rtl="1"/>
                      <a:r>
                        <a:rPr lang="en-US" sz="2200" dirty="0">
                          <a:solidFill>
                            <a:schemeClr val="tx1"/>
                          </a:solidFill>
                          <a:cs typeface="+mj-cs"/>
                        </a:rPr>
                        <a:t>o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تحديث السياسات عند ظهور مخاطر جديدة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F7D3D9-A555-5A80-449E-088E331D9A46}"/>
              </a:ext>
            </a:extLst>
          </p:cNvPr>
          <p:cNvSpPr txBox="1"/>
          <p:nvPr/>
        </p:nvSpPr>
        <p:spPr>
          <a:xfrm>
            <a:off x="2813255" y="93375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8B498-99A5-53C5-D7BF-83DACD26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3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DD8D6-BE6E-7EBE-C2B9-2C0A3CD9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F7B4-0698-462D-A55E-35367279DEF6}" type="datetime8">
              <a:rPr lang="en-US" smtClean="0"/>
              <a:t>10/2/2026 6:23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24830-A44F-1E0F-50B1-37A5BA91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100B-83B9-4223-6897-FB74F9B6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331E3-CF47-D235-E8CF-32A6D1E03B10}"/>
              </a:ext>
            </a:extLst>
          </p:cNvPr>
          <p:cNvSpPr txBox="1"/>
          <p:nvPr/>
        </p:nvSpPr>
        <p:spPr>
          <a:xfrm>
            <a:off x="2813255" y="93375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Introduction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922FD9-F993-EF65-1F8C-58E1A75DBDFC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719666"/>
          <a:ext cx="1075944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1408">
                  <a:extLst>
                    <a:ext uri="{9D8B030D-6E8A-4147-A177-3AD203B41FA5}">
                      <a16:colId xmlns:a16="http://schemas.microsoft.com/office/drawing/2014/main" val="3698480995"/>
                    </a:ext>
                  </a:extLst>
                </a:gridCol>
                <a:gridCol w="4658032">
                  <a:extLst>
                    <a:ext uri="{9D8B030D-6E8A-4147-A177-3AD203B41FA5}">
                      <a16:colId xmlns:a16="http://schemas.microsoft.com/office/drawing/2014/main" val="1622977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F476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 Safety Culture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Having policies on paper is not enough. A safety culture means: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Safety is integrated into every decision.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Leadership sets the example by following safety rules. (Leadership personally following all safety procedures themselves).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Employees are encouraged to speak up about risks without fear.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Continuous training and awareness keep safety a daily priority.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بناء ثقافة السلامة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</a:rPr>
                        <a:t>إنّ تدوين السياسات على الورق لا يكفي. فثقافة السلامة تعني: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</a:rPr>
                        <a:t>• دمج السلامة في كل قرار.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</a:rPr>
                        <a:t>• القيادة تُكون قدوة باتباع قواعد السلامة.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</a:rPr>
                        <a:t>• تشجيع الموظفين على التحدث عن المخاطر دون خوف.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  <a:p>
                      <a:pPr algn="r" rtl="1">
                        <a:spcBef>
                          <a:spcPts val="1200"/>
                        </a:spcBef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</a:rPr>
                        <a:t>• التدريب والتوعية المستمران يُبقيان السلامة أولوية يومية.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60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1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206"/>
    </mc:Choice>
    <mc:Fallback xmlns="">
      <p:transition spd="slow" advTm="9320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C664-BFA3-073F-BA7E-4380BC31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9EB5D-7504-B090-0CE7-659C04EA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8589-6CF5-98D0-3D37-214B01BD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4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AA8B83-06F7-F2AA-0191-5D769CE0B540}"/>
              </a:ext>
            </a:extLst>
          </p:cNvPr>
          <p:cNvGraphicFramePr>
            <a:graphicFrameLocks noGrp="1"/>
          </p:cNvGraphicFramePr>
          <p:nvPr/>
        </p:nvGraphicFramePr>
        <p:xfrm>
          <a:off x="397240" y="1525076"/>
          <a:ext cx="4784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6080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Signs, Symbols, Colors and Warning Labels</a:t>
                      </a:r>
                    </a:p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signs provide information quickly and visually.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F31C6E1-5FF4-6867-8C70-B8E1F4BE3419}"/>
              </a:ext>
            </a:extLst>
          </p:cNvPr>
          <p:cNvSpPr txBox="1"/>
          <p:nvPr/>
        </p:nvSpPr>
        <p:spPr>
          <a:xfrm>
            <a:off x="397240" y="146384"/>
            <a:ext cx="4784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Safety Signs, Symbols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B5D9C-AADC-E205-3DB9-5B5DB7ED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8" name="Picture 7" descr="Image">
            <a:extLst>
              <a:ext uri="{FF2B5EF4-FFF2-40B4-BE49-F238E27FC236}">
                <a16:creationId xmlns:a16="http://schemas.microsoft.com/office/drawing/2014/main" id="{06ED5CD2-F28A-0D0C-D135-BF2B60CEE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57200"/>
            <a:ext cx="5943600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A03D34-95EB-562B-1D2A-9B309CC111A4}"/>
              </a:ext>
            </a:extLst>
          </p:cNvPr>
          <p:cNvSpPr txBox="1"/>
          <p:nvPr/>
        </p:nvSpPr>
        <p:spPr>
          <a:xfrm>
            <a:off x="495300" y="4514445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ISO 7010 - Wikipedia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19BB8-3AC0-1D7D-2321-990D388F6FCD}"/>
              </a:ext>
            </a:extLst>
          </p:cNvPr>
          <p:cNvSpPr txBox="1"/>
          <p:nvPr/>
        </p:nvSpPr>
        <p:spPr>
          <a:xfrm>
            <a:off x="7017795" y="3999726"/>
            <a:ext cx="534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dirty="0"/>
              <a:t>منع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90667A-E36B-121E-1E8C-00400B06A4CC}"/>
              </a:ext>
            </a:extLst>
          </p:cNvPr>
          <p:cNvSpPr txBox="1"/>
          <p:nvPr/>
        </p:nvSpPr>
        <p:spPr>
          <a:xfrm>
            <a:off x="9145250" y="1389301"/>
            <a:ext cx="820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dirty="0"/>
              <a:t>إلزامي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58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FB3B-7AE6-DEE7-F21A-AB78BF93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172FA-E804-0EAF-83E2-FB736950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4B8CF-A416-788B-92BF-3DB26A5A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5</a:t>
            </a:fld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8E2B7-68B9-C324-6FCF-9AE420E0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1CF409AE-5B87-AD3A-68A4-C7DABC297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3457"/>
            <a:ext cx="5943600" cy="5598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6D2910-F5BC-D601-CFEE-945D82411D69}"/>
              </a:ext>
            </a:extLst>
          </p:cNvPr>
          <p:cNvSpPr txBox="1"/>
          <p:nvPr/>
        </p:nvSpPr>
        <p:spPr>
          <a:xfrm>
            <a:off x="7952906" y="5968280"/>
            <a:ext cx="1315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Fire ladder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16427-5526-0A12-0D12-7CAF2C10D320}"/>
              </a:ext>
            </a:extLst>
          </p:cNvPr>
          <p:cNvSpPr txBox="1"/>
          <p:nvPr/>
        </p:nvSpPr>
        <p:spPr>
          <a:xfrm>
            <a:off x="9558728" y="5987018"/>
            <a:ext cx="1795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open flame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15E620-B0C4-4CBC-8B1E-E491FDB5C5C1}"/>
              </a:ext>
            </a:extLst>
          </p:cNvPr>
          <p:cNvSpPr txBox="1"/>
          <p:nvPr/>
        </p:nvSpPr>
        <p:spPr>
          <a:xfrm>
            <a:off x="10398802" y="5701023"/>
            <a:ext cx="1903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ionizing radiation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2F7431-5FE9-2269-3D55-09175C933E5D}"/>
              </a:ext>
            </a:extLst>
          </p:cNvPr>
          <p:cNvGraphicFramePr>
            <a:graphicFrameLocks noGrp="1"/>
          </p:cNvGraphicFramePr>
          <p:nvPr/>
        </p:nvGraphicFramePr>
        <p:xfrm>
          <a:off x="413283" y="1378777"/>
          <a:ext cx="4784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6080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Signs, Symbols, Colors and Warning Labels</a:t>
                      </a:r>
                    </a:p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signs provide information quickly and visually.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2C87CA-8CDE-F16E-4356-E02F2630206F}"/>
              </a:ext>
            </a:extLst>
          </p:cNvPr>
          <p:cNvSpPr txBox="1"/>
          <p:nvPr/>
        </p:nvSpPr>
        <p:spPr>
          <a:xfrm>
            <a:off x="397240" y="146384"/>
            <a:ext cx="4784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Safety Signs, Symbols</a:t>
            </a:r>
          </a:p>
        </p:txBody>
      </p:sp>
    </p:spTree>
    <p:extLst>
      <p:ext uri="{BB962C8B-B14F-4D97-AF65-F5344CB8AC3E}">
        <p14:creationId xmlns:p14="http://schemas.microsoft.com/office/powerpoint/2010/main" val="170293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956F5-3003-3E25-1611-A66AF715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6ABAF-8C6C-F50F-AB06-DF1C5E44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EA127-223A-0E63-1374-2CF477E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6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0D4507-8911-3E59-6228-38F4ECA2ABC4}"/>
              </a:ext>
            </a:extLst>
          </p:cNvPr>
          <p:cNvGraphicFramePr>
            <a:graphicFrameLocks noGrp="1"/>
          </p:cNvGraphicFramePr>
          <p:nvPr/>
        </p:nvGraphicFramePr>
        <p:xfrm>
          <a:off x="621858" y="641984"/>
          <a:ext cx="11179277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832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766445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Prohibition signs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Generally indicate that an action is not permitted.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color: Red</a:t>
                      </a:r>
                    </a:p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smoking.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unauthorized entry.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 not touch.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 not use damaged equipment.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Shape: Usually circular with a red border/slash.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علامات المنع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تشير عمومًا إلى أن إجراءً معينًا غير مسموح به.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اللون المعتاد: الأحمر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أمثلة: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ممنوع التدخين.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ممنوع الدخول لغير المصرح لهم.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ممنوع اللمس.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لا تستخدم معدات تالفة.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الشكل: غالبًا ما تكون دائرية وبها إطار أو خط مائل أحمر.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4B427C0-AD43-1588-5F2A-8E367CC07F1C}"/>
              </a:ext>
            </a:extLst>
          </p:cNvPr>
          <p:cNvSpPr txBox="1"/>
          <p:nvPr/>
        </p:nvSpPr>
        <p:spPr>
          <a:xfrm>
            <a:off x="2085474" y="136525"/>
            <a:ext cx="6864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Main categories of safety signs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7137F-37FE-3367-4374-5AC9C24D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8" name="Picture 7" descr="Image">
            <a:extLst>
              <a:ext uri="{FF2B5EF4-FFF2-40B4-BE49-F238E27FC236}">
                <a16:creationId xmlns:a16="http://schemas.microsoft.com/office/drawing/2014/main" id="{7993E984-5BB2-E2DF-DEB6-A9E09DC16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69" r="49050"/>
          <a:stretch>
            <a:fillRect/>
          </a:stretch>
        </p:blipFill>
        <p:spPr bwMode="auto">
          <a:xfrm>
            <a:off x="8772864" y="3926138"/>
            <a:ext cx="3028271" cy="279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Image">
            <a:extLst>
              <a:ext uri="{FF2B5EF4-FFF2-40B4-BE49-F238E27FC236}">
                <a16:creationId xmlns:a16="http://schemas.microsoft.com/office/drawing/2014/main" id="{CC3F2C89-C1FE-4784-603F-609F42865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94" b="3928"/>
          <a:stretch>
            <a:fillRect/>
          </a:stretch>
        </p:blipFill>
        <p:spPr bwMode="auto">
          <a:xfrm>
            <a:off x="838200" y="5014912"/>
            <a:ext cx="5943600" cy="152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777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F978-A83C-8B16-685C-6EE1C9CA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D3067-757E-30D0-7747-A843C928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39BCA-7856-1E75-F930-14CC64EE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7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A191C5-622E-6D89-878F-6FFE399E359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668625"/>
          <a:ext cx="11179277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832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766445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Warning signs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Warn people about a potential hazard.</a:t>
                      </a:r>
                    </a:p>
                    <a:p>
                      <a:r>
                        <a:rPr lang="en-US" sz="25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color: Yellow</a:t>
                      </a:r>
                    </a:p>
                    <a:p>
                      <a:r>
                        <a:rPr lang="en-US" sz="25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 hazard.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voltage.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Slippery floor.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Radiation.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Biological hazard.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Shape: Usually triangular.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علامات التحذير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تُحذّر الأشخاص من وجود خطر محتمل.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اللون المعتاد: الأصفر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أمثلة: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خطر كهربائي.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جهد كهربائي عالٍ.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أرضية زلقة.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إشعاع.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خطر بيولوجي.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الشكل: غالبًا ما تكون مثلثة.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77CF4-E950-F3E8-4306-A96437CA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8" name="Picture 7" descr="Image">
            <a:extLst>
              <a:ext uri="{FF2B5EF4-FFF2-40B4-BE49-F238E27FC236}">
                <a16:creationId xmlns:a16="http://schemas.microsoft.com/office/drawing/2014/main" id="{3A4DFCB5-943F-72E6-08E5-275FDD575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11942" r="47602" b="45232"/>
          <a:stretch>
            <a:fillRect/>
          </a:stretch>
        </p:blipFill>
        <p:spPr bwMode="auto">
          <a:xfrm>
            <a:off x="8610600" y="3993542"/>
            <a:ext cx="3028271" cy="25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D0BAB7-C8A8-8A49-4034-D3D64DC6F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1" b="79444"/>
          <a:stretch>
            <a:fillRect/>
          </a:stretch>
        </p:blipFill>
        <p:spPr>
          <a:xfrm>
            <a:off x="626345" y="4864720"/>
            <a:ext cx="5236139" cy="1273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B4B21B-0E43-7FA9-8632-8D0533EE5848}"/>
              </a:ext>
            </a:extLst>
          </p:cNvPr>
          <p:cNvSpPr txBox="1"/>
          <p:nvPr/>
        </p:nvSpPr>
        <p:spPr>
          <a:xfrm>
            <a:off x="2085474" y="136525"/>
            <a:ext cx="6864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Main categories of safety signs</a:t>
            </a:r>
          </a:p>
        </p:txBody>
      </p:sp>
    </p:spTree>
    <p:extLst>
      <p:ext uri="{BB962C8B-B14F-4D97-AF65-F5344CB8AC3E}">
        <p14:creationId xmlns:p14="http://schemas.microsoft.com/office/powerpoint/2010/main" val="369667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3C97-D182-D64D-9880-BC3D79EDF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DBFA4-F5CA-2689-074A-E078BF23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B0248-8FDB-467C-BF33-7FA81B78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8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45C7B-1DDC-60CE-7D01-5E10C6DB7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941388"/>
              </p:ext>
            </p:extLst>
          </p:nvPr>
        </p:nvGraphicFramePr>
        <p:xfrm>
          <a:off x="553129" y="801261"/>
          <a:ext cx="1117927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832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766445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Mandatory signs</a:t>
                      </a:r>
                    </a:p>
                    <a:p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 people what they must do.</a:t>
                      </a:r>
                    </a:p>
                    <a:p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color: Blue</a:t>
                      </a:r>
                    </a:p>
                    <a:p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Wear eye protection.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Wear hearing protection.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Wear protective gloves.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required PPE.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0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Shape: Usually circular.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علامات إلزامية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تُخبر الأشخاص بما يجب عليهم فعله.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اللون المعتاد: الأزرق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أمثلة: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ارتدِ واقيًا للعينين.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ارتدِ واقيًا للسمع.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ارتدِ قفازات واقية.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استخدم معدات الوقاية الشخصية المطلوبة.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الشكل: غالبًا ما تكون دائرية.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818C-D260-EA67-D948-0303DC4E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8" name="Picture 7" descr="Image">
            <a:extLst>
              <a:ext uri="{FF2B5EF4-FFF2-40B4-BE49-F238E27FC236}">
                <a16:creationId xmlns:a16="http://schemas.microsoft.com/office/drawing/2014/main" id="{C72C020B-5AAE-ECF3-56B0-8650BE102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87" t="12212" r="-2637" b="44962"/>
          <a:stretch>
            <a:fillRect/>
          </a:stretch>
        </p:blipFill>
        <p:spPr bwMode="auto">
          <a:xfrm>
            <a:off x="8610600" y="4066880"/>
            <a:ext cx="3028271" cy="25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Image">
            <a:extLst>
              <a:ext uri="{FF2B5EF4-FFF2-40B4-BE49-F238E27FC236}">
                <a16:creationId xmlns:a16="http://schemas.microsoft.com/office/drawing/2014/main" id="{0BDC6597-65AC-67ED-C15C-75125495B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7" b="59843"/>
          <a:stretch>
            <a:fillRect/>
          </a:stretch>
        </p:blipFill>
        <p:spPr bwMode="auto">
          <a:xfrm>
            <a:off x="459594" y="5007501"/>
            <a:ext cx="5943600" cy="14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98C139-F4C1-7120-E850-36C0EAC2F1D5}"/>
              </a:ext>
            </a:extLst>
          </p:cNvPr>
          <p:cNvSpPr txBox="1"/>
          <p:nvPr/>
        </p:nvSpPr>
        <p:spPr>
          <a:xfrm>
            <a:off x="2384258" y="88763"/>
            <a:ext cx="6864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Main categories of safety signs</a:t>
            </a:r>
          </a:p>
        </p:txBody>
      </p:sp>
    </p:spTree>
    <p:extLst>
      <p:ext uri="{BB962C8B-B14F-4D97-AF65-F5344CB8AC3E}">
        <p14:creationId xmlns:p14="http://schemas.microsoft.com/office/powerpoint/2010/main" val="360026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8ED8-88DF-CB74-171D-F99B261A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70389-7B7A-2A5A-C869-1088A3AB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B4A09-2B4D-AE69-3A0B-235C9F27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9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9B7C6A-2CDE-B7AA-BA6E-F59F4A44164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668625"/>
          <a:ext cx="11179277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832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766445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Emergency/Safe-condition signs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information about safe conditions and emergency facilities.</a:t>
                      </a:r>
                    </a:p>
                    <a:p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color: Green</a:t>
                      </a:r>
                    </a:p>
                    <a:p>
                      <a:r>
                        <a:rPr lang="en-US" sz="25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Emergency exit.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First-aid station.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Emergency assembly point.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equipment.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Shape: Commonly square or rectangular.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علامات الطوارئ / الحالة الآمنة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توفّر معلومات عن الظروف الآمنة ومرافق الطوارئ.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اللون المعتاد: الأخضر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أمثلة: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مخرج الطوارئ.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محطة الإسعافات الأولية.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نقطة التجمّع في حالات الطوارئ.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معدات السلامة.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الشكل: غالبًا ما تكون مربعة أو مستطيلة.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87FFE-59E7-D144-5EFF-31478310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8" name="Picture 7" descr="Image">
            <a:extLst>
              <a:ext uri="{FF2B5EF4-FFF2-40B4-BE49-F238E27FC236}">
                <a16:creationId xmlns:a16="http://schemas.microsoft.com/office/drawing/2014/main" id="{298B24C4-600C-60F9-4E1E-F35D7AA2E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2" t="54286" r="1127" b="6006"/>
          <a:stretch>
            <a:fillRect/>
          </a:stretch>
        </p:blipFill>
        <p:spPr bwMode="auto">
          <a:xfrm>
            <a:off x="8983579" y="4178862"/>
            <a:ext cx="2827421" cy="236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5F86E-5FD1-2360-44ED-40F742782E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729" b="25333"/>
          <a:stretch>
            <a:fillRect/>
          </a:stretch>
        </p:blipFill>
        <p:spPr>
          <a:xfrm>
            <a:off x="942881" y="5202459"/>
            <a:ext cx="5236139" cy="10929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60CA65-2AC3-C1AA-AEE8-0F44D3D67F27}"/>
              </a:ext>
            </a:extLst>
          </p:cNvPr>
          <p:cNvSpPr txBox="1"/>
          <p:nvPr/>
        </p:nvSpPr>
        <p:spPr>
          <a:xfrm>
            <a:off x="2085474" y="136525"/>
            <a:ext cx="6864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Main categories of safety signs</a:t>
            </a:r>
          </a:p>
        </p:txBody>
      </p:sp>
    </p:spTree>
    <p:extLst>
      <p:ext uri="{BB962C8B-B14F-4D97-AF65-F5344CB8AC3E}">
        <p14:creationId xmlns:p14="http://schemas.microsoft.com/office/powerpoint/2010/main" val="3501715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BF6C-71B0-B517-C665-BD026F2F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5B095-5D65-70EE-62B3-17B4C626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3F9BB-0FAF-5C69-58A5-3393720A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10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7C6A62-B929-EA2A-B14B-49882ABBA36E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668625"/>
          <a:ext cx="1034446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952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410510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equipment signs</a:t>
                      </a:r>
                    </a:p>
                    <a:p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fire-fighting equipment and facilities.</a:t>
                      </a:r>
                    </a:p>
                    <a:p>
                      <a:r>
                        <a:rPr lang="en-US" sz="25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 examples include: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extinguisher.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hose.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alarm.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blanket.</a:t>
                      </a:r>
                    </a:p>
                    <a:p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color: Red.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3000" u="sng" dirty="0">
                          <a:solidFill>
                            <a:schemeClr val="tx1"/>
                          </a:solidFill>
                          <a:cs typeface="+mj-cs"/>
                        </a:rPr>
                        <a:t>علامات معدات مكافحة الحرائق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تُستخدم لتحديد معدات ومرافق مكافحة الحرائق.</a:t>
                      </a:r>
                    </a:p>
                    <a:p>
                      <a:pPr algn="r" rtl="1"/>
                      <a:r>
                        <a:rPr lang="ar-EG" sz="2200" u="sng" dirty="0">
                          <a:solidFill>
                            <a:schemeClr val="tx1"/>
                          </a:solidFill>
                          <a:cs typeface="+mj-cs"/>
                        </a:rPr>
                        <a:t>من الأمثلة الشائعة: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طفاية الحريق.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خرطوم الحريق.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إنذار الحريق.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بطانية الحريق.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اللون المعتاد: الأحمر.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5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58537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4697A-CFF1-DED5-D739-52D56EC5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3C17D6-691B-3B27-1F85-40117FA1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77" b="43056"/>
          <a:stretch>
            <a:fillRect/>
          </a:stretch>
        </p:blipFill>
        <p:spPr>
          <a:xfrm>
            <a:off x="1992030" y="4937427"/>
            <a:ext cx="5236139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80C84E-02BE-6BD9-3391-1E580457BFCA}"/>
              </a:ext>
            </a:extLst>
          </p:cNvPr>
          <p:cNvSpPr txBox="1"/>
          <p:nvPr/>
        </p:nvSpPr>
        <p:spPr>
          <a:xfrm>
            <a:off x="2085474" y="136525"/>
            <a:ext cx="6864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Main categories of safety signs</a:t>
            </a:r>
          </a:p>
        </p:txBody>
      </p:sp>
    </p:spTree>
    <p:extLst>
      <p:ext uri="{BB962C8B-B14F-4D97-AF65-F5344CB8AC3E}">
        <p14:creationId xmlns:p14="http://schemas.microsoft.com/office/powerpoint/2010/main" val="227444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A3E7-033A-AEE2-EEE9-EC488753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18338-EDF2-BD7E-E106-1A4986E7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F50AB-BB9F-D680-F8E9-888B7A04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11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4AC4BB-20D4-3ABF-A63A-1342DDD5CACD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1011525"/>
          <a:ext cx="108585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823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629677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Practical Example for Students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Consider a university AI/Data Science laboratory.</a:t>
                      </a:r>
                    </a:p>
                    <a:p>
                      <a:r>
                        <a:rPr lang="en-US" sz="26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Observed conditions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Several computers connected to one extension board.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Cables crossing a walkway.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Students sitting incorrectly.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Emergency exit partially blocked.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 producing excessive heat.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visible fire-safety instructions.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مثال عملي للطلاب</a:t>
                      </a:r>
                    </a:p>
                    <a:p>
                      <a:pPr algn="r" rtl="1"/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لنتخيل مختبراً جامعياً للذكاء الاصطناعي أو علوم البيانات.</a:t>
                      </a:r>
                    </a:p>
                    <a:p>
                      <a:pPr algn="r" rtl="1"/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الظروف المرصودة: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عدة أجهزة حاسوب متصلة بمقبس تمديد كهربائي واحد.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كابلات تمتد عبر ممر المشاة.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وضعية جلوس غير صحيحة للطلاب.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مخرج الطوارئ مسدود جزئياً.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خادم (سيرفر) يولد حرارة مفرطة.</a:t>
                      </a:r>
                    </a:p>
                    <a:p>
                      <a:pPr marL="342900" indent="-342900" algn="r" rtl="1">
                        <a:buFont typeface="Arial" panose="020B0604020202020204" pitchFamily="34" charset="0"/>
                        <a:buChar char="•"/>
                      </a:pPr>
                      <a:r>
                        <a:rPr lang="ar-EG" sz="2500" dirty="0">
                          <a:solidFill>
                            <a:schemeClr val="tx1"/>
                          </a:solidFill>
                          <a:cs typeface="+mj-cs"/>
                        </a:rPr>
                        <a:t>غياب أي تعليمات </a:t>
                      </a:r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ظاهرة للسلامة من الحرائق.</a:t>
                      </a:r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8B1904-07F9-D393-6992-17B97E20D7CC}"/>
              </a:ext>
            </a:extLst>
          </p:cNvPr>
          <p:cNvSpPr txBox="1"/>
          <p:nvPr/>
        </p:nvSpPr>
        <p:spPr>
          <a:xfrm>
            <a:off x="2713220" y="136525"/>
            <a:ext cx="66406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Risk assessment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2ED06-E629-DFB0-F683-DB8F2DBE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5:51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4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D06A-0F22-EF90-B72F-75FC6198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22A93-CD01-EE5C-DA60-02557AA3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9C651-EAC0-4200-AD27-E63A7362C1AF}" type="datetime8">
              <a:rPr lang="en-US" smtClean="0"/>
              <a:t>10/2/2026 6:20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D7D4B-7D94-F52F-8589-FF07E11E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41F13-1AEC-1E7A-1C15-0825F02F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E357B6-0968-7A39-0FE9-780482E21A3C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022350"/>
          <a:ext cx="11087100" cy="53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5700">
                  <a:extLst>
                    <a:ext uri="{9D8B030D-6E8A-4147-A177-3AD203B41FA5}">
                      <a16:colId xmlns:a16="http://schemas.microsoft.com/office/drawing/2014/main" val="4004289988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16653234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145361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Observation / الملاحظة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Hazard / الخطر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Possible consequence / العاقبة المحتملة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00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Overloaded extension / وصلة كهربائية محمّلة فوق طاقتها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Electrical / كهربائي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Fire or electric shock / حريق أو صدمة كهربائية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1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Cables on floor / كابلات على الأرض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Physical / مادي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Trip or fall / التعثر أو السقوط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68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Poor posture / وضعية جلوس غير صحيحة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Ergonomic / متعلق ببيئة العمل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Back or neck injury / إصابة في الظهر أو الرقبة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06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Blocked exit / مخرج مسدود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Emergency / طوارئ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Delayed evacuation / تأخر الإخلاء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3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Excessive server heat / حرارة مفرطة للخادم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Environmental or equipment / بيئي أو متعلق بالمعدات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Equipment failure or fire / تعطل المعدات أو حريق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24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Missing safety instructions / عدم وجود تعليمات السلامة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/>
                        <a:t>Organizational / </a:t>
                      </a:r>
                      <a:r>
                        <a:rPr lang="en-US" sz="2200" b="1" dirty="0" err="1"/>
                        <a:t>تنظيمي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/>
                        <a:t>Incorrect emergency response / </a:t>
                      </a:r>
                      <a:r>
                        <a:rPr lang="en-US" sz="2200" b="1" dirty="0" err="1"/>
                        <a:t>استجابة</a:t>
                      </a:r>
                      <a:r>
                        <a:rPr lang="en-US" sz="2200" b="1" dirty="0"/>
                        <a:t> </a:t>
                      </a:r>
                      <a:r>
                        <a:rPr lang="en-US" sz="2200" b="1" dirty="0" err="1"/>
                        <a:t>خاطئة</a:t>
                      </a:r>
                      <a:r>
                        <a:rPr lang="en-US" sz="2200" b="1" dirty="0"/>
                        <a:t> </a:t>
                      </a:r>
                      <a:r>
                        <a:rPr lang="en-US" sz="2200" b="1" dirty="0" err="1"/>
                        <a:t>للطوارئ</a:t>
                      </a:r>
                      <a:endParaRPr lang="en-US" sz="2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8629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B1C5DF-022B-6642-6E85-4AE684C98475}"/>
              </a:ext>
            </a:extLst>
          </p:cNvPr>
          <p:cNvSpPr txBox="1"/>
          <p:nvPr/>
        </p:nvSpPr>
        <p:spPr>
          <a:xfrm>
            <a:off x="2653259" y="303282"/>
            <a:ext cx="66406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Risk assessment Example</a:t>
            </a:r>
          </a:p>
        </p:txBody>
      </p:sp>
    </p:spTree>
    <p:extLst>
      <p:ext uri="{BB962C8B-B14F-4D97-AF65-F5344CB8AC3E}">
        <p14:creationId xmlns:p14="http://schemas.microsoft.com/office/powerpoint/2010/main" val="84943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74E0-C117-40DE-C99D-401C2E4D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7A531-5A24-B6EA-9536-4A81350A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1: Introduction</a:t>
            </a:r>
            <a:endParaRPr lang="ar-S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7FDE-4338-34A7-E1A9-FEC1574C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13</a:t>
            </a:fld>
            <a:endParaRPr lang="ar-S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9A2FB3-01A4-CF0C-F26E-25E2DE7024EB}"/>
              </a:ext>
            </a:extLst>
          </p:cNvPr>
          <p:cNvGraphicFramePr>
            <a:graphicFrameLocks noGrp="1"/>
          </p:cNvGraphicFramePr>
          <p:nvPr/>
        </p:nvGraphicFramePr>
        <p:xfrm>
          <a:off x="1012723" y="1037593"/>
          <a:ext cx="10665930" cy="359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310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3555310">
                  <a:extLst>
                    <a:ext uri="{9D8B030D-6E8A-4147-A177-3AD203B41FA5}">
                      <a16:colId xmlns:a16="http://schemas.microsoft.com/office/drawing/2014/main" val="2516232455"/>
                    </a:ext>
                  </a:extLst>
                </a:gridCol>
                <a:gridCol w="3555310">
                  <a:extLst>
                    <a:ext uri="{9D8B030D-6E8A-4147-A177-3AD203B41FA5}">
                      <a16:colId xmlns:a16="http://schemas.microsoft.com/office/drawing/2014/main" val="3203851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Observation</a:t>
                      </a:r>
                      <a:endParaRPr lang="en-US" sz="2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Hazard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Possible consequence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Overloaded extension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Electrical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Fire/electric shock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6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Cables on floor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Physical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Trip/fall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8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Poor posture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Ergonomic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Back/neck injury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87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Blocked exit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Emergency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Delayed evacuation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349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Excessive server heat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Environmental/equipment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Equipment failure/fire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94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Missing safety instructions</a:t>
                      </a:r>
                      <a:endParaRPr lang="en-US" sz="2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Organizational</a:t>
                      </a:r>
                      <a:endParaRPr lang="en-US" sz="2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Incorrect emergency response</a:t>
                      </a:r>
                      <a:endParaRPr lang="en-US" sz="2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172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FF4BA-AB4E-5E6C-A0E2-0D2DAC24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6:22 PM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35FFB-FCF6-DA3D-A6DB-B36C17B9D079}"/>
              </a:ext>
            </a:extLst>
          </p:cNvPr>
          <p:cNvSpPr txBox="1"/>
          <p:nvPr/>
        </p:nvSpPr>
        <p:spPr>
          <a:xfrm>
            <a:off x="2653259" y="303282"/>
            <a:ext cx="66406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Risk assessment Example</a:t>
            </a:r>
          </a:p>
        </p:txBody>
      </p:sp>
    </p:spTree>
    <p:extLst>
      <p:ext uri="{BB962C8B-B14F-4D97-AF65-F5344CB8AC3E}">
        <p14:creationId xmlns:p14="http://schemas.microsoft.com/office/powerpoint/2010/main" val="2873864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13DC-161D-4B9E-1777-105A8D54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29E76-7182-C34E-35AA-2F4FD525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EB6D-6062-2FF0-5D20-BD252B23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14</a:t>
            </a:fld>
            <a:endParaRPr lang="ar-S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9B42AF-6DFA-4C9B-845D-9598498C6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97304"/>
              </p:ext>
            </p:extLst>
          </p:nvPr>
        </p:nvGraphicFramePr>
        <p:xfrm>
          <a:off x="838200" y="932939"/>
          <a:ext cx="1051560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2123">
                  <a:extLst>
                    <a:ext uri="{9D8B030D-6E8A-4147-A177-3AD203B41FA5}">
                      <a16:colId xmlns:a16="http://schemas.microsoft.com/office/drawing/2014/main" val="1369924194"/>
                    </a:ext>
                  </a:extLst>
                </a:gridCol>
                <a:gridCol w="4483477">
                  <a:extLst>
                    <a:ext uri="{9D8B030D-6E8A-4147-A177-3AD203B41FA5}">
                      <a16:colId xmlns:a16="http://schemas.microsoft.com/office/drawing/2014/main" val="54697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Recommended actions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electrical overload.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Organize cables.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 workstation arrangement.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 emergency exits clear.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ventilation/cooling.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 appropriate safety signs.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 a risk assessment.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students and staff.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example demonstrates the complete safety process: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the hazard → assess the risk → implement controls → monitor → improve.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الإجراءات الموصى بها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إزالة الحمل الزائد عن التوصيلات الكهربائية.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تنظيم الكابلات.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ترتيب محطات العمل بصورة صحيحة.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إبقاء مخارج الطوارئ خالية من العوائق.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تحسين التهوية أو التبريد.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وضع علامات السلامة المناسبة.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إجراء تقييم للمخاطر.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تدريب الطلاب والموظفين.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يوضح هذا المثال عملية السلامة الكاملة:</a:t>
                      </a:r>
                    </a:p>
                    <a:p>
                      <a:pPr algn="r" rtl="1"/>
                      <a:r>
                        <a:rPr lang="ar-EG" sz="2200" dirty="0">
                          <a:solidFill>
                            <a:schemeClr val="tx1"/>
                          </a:solidFill>
                          <a:cs typeface="+mj-cs"/>
                        </a:rPr>
                        <a:t>تحديد الخطر → تقييم المخاطر → تنفيذ إجراءات التحكم → المراقبة → التحسين</a:t>
                      </a:r>
                    </a:p>
                    <a:p>
                      <a:pPr algn="r" rtl="1"/>
                      <a:endParaRPr lang="en-US" sz="220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3014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E5DD3-8FDC-1167-F2E7-54EDB580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370EA-3E50-49F3-B04D-E0E1929C80F1}" type="datetime8">
              <a:rPr lang="en-US" smtClean="0"/>
              <a:t>10/2/2026 6:22 PM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619BC-231A-698D-47AB-C044C7FAC595}"/>
              </a:ext>
            </a:extLst>
          </p:cNvPr>
          <p:cNvSpPr txBox="1"/>
          <p:nvPr/>
        </p:nvSpPr>
        <p:spPr>
          <a:xfrm>
            <a:off x="2653259" y="303282"/>
            <a:ext cx="66406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Risk assessment Example</a:t>
            </a:r>
          </a:p>
        </p:txBody>
      </p:sp>
    </p:spTree>
    <p:extLst>
      <p:ext uri="{BB962C8B-B14F-4D97-AF65-F5344CB8AC3E}">
        <p14:creationId xmlns:p14="http://schemas.microsoft.com/office/powerpoint/2010/main" val="115219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:\Documents and Settings\Administrator\My Documents\My Pictures\safety funny\fork_truck_safet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6976" y="1357299"/>
            <a:ext cx="7000892" cy="4870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881554" y="134919"/>
            <a:ext cx="28937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Some Funnies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062153" y="1000108"/>
            <a:ext cx="23248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Proper use of forklift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47C3D-02C2-75BE-A32C-B9D1BD99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0500-33BF-48EA-853D-1253D099D0CE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ECCF4-E179-AA3F-18C3-2A67B565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86F23-C56B-4DAE-CA14-0D2345B9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236913" y="457201"/>
            <a:ext cx="28228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Some Funnies</a:t>
            </a:r>
          </a:p>
        </p:txBody>
      </p:sp>
      <p:pic>
        <p:nvPicPr>
          <p:cNvPr id="33795" name="Picture 3" descr="C:\Documents and Settings\Administrator\My Documents\My Pictures\safety funny\Safety-Ladder-In-Poo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1" y="2209800"/>
            <a:ext cx="315436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736726" y="1108075"/>
            <a:ext cx="301653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Who says that using power </a:t>
            </a:r>
          </a:p>
          <a:p>
            <a:r>
              <a:rPr lang="en-US" b="1" dirty="0"/>
              <a:t>Drill is dangerous, while </a:t>
            </a:r>
          </a:p>
          <a:p>
            <a:r>
              <a:rPr lang="en-US" b="1" dirty="0"/>
              <a:t>standing in water?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6781801" y="1295400"/>
            <a:ext cx="20523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World’s best jack.</a:t>
            </a:r>
          </a:p>
        </p:txBody>
      </p:sp>
      <p:pic>
        <p:nvPicPr>
          <p:cNvPr id="33799" name="Picture 7" descr="C:\Documents and Settings\Administrator\My Documents\My Pictures\safety funny\SAFETY_FIRST_KID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286001"/>
            <a:ext cx="4876800" cy="365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32D21-3516-9932-6B1F-01106389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69520-DBE2-468E-B540-B2622082CFDD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F7745-495A-DEE1-F1C5-D254BBB5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0EF88-8B2E-8614-B910-D1127CC3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utoUpdateAnimBg="0"/>
      <p:bldP spid="3379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197226" y="663576"/>
            <a:ext cx="28228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b="1"/>
              <a:t>Some Funnies</a:t>
            </a:r>
          </a:p>
        </p:txBody>
      </p:sp>
      <p:pic>
        <p:nvPicPr>
          <p:cNvPr id="35843" name="Picture 3" descr="C:\Documents and Settings\Administrator\My Documents\My Pictures\safety funny\Safety-Streetligh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286001"/>
            <a:ext cx="287655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4" descr="C:\Documents and Settings\Administrator\My Documents\My Pictures\safety funny\Work-Safety-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2286000"/>
            <a:ext cx="33337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4572001" y="1524000"/>
            <a:ext cx="18422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Mobile Ladders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C979F-B909-151D-3820-A1FA676C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79006-8EF8-43A4-97D4-485B34BDB896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D9695-D49D-CFD3-A33B-725D6138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766A3-18A6-E025-6371-8E7682DD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57166"/>
            <a:ext cx="8229600" cy="5715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Is This An Appropriate Hard Hat?</a:t>
            </a:r>
          </a:p>
        </p:txBody>
      </p:sp>
      <p:pic>
        <p:nvPicPr>
          <p:cNvPr id="149508" name="Picture 4" descr="[]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95472" y="1051060"/>
            <a:ext cx="7886728" cy="5543416"/>
          </a:xfrm>
          <a:noFill/>
          <a:ln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93D4C-622F-D060-9489-0753B98F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DA5E-BF37-4ABD-8C77-9F329C96D243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8BF9B-D736-5FD8-CE6E-26EC9A53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2F13-4E14-D245-EC5E-AF53386E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04088"/>
            <a:ext cx="8229600" cy="65321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Is This An Appropriate Respirator?</a:t>
            </a:r>
          </a:p>
        </p:txBody>
      </p:sp>
      <p:pic>
        <p:nvPicPr>
          <p:cNvPr id="150532" name="Picture 4" descr="[]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4600" y="1676401"/>
            <a:ext cx="7772400" cy="5000625"/>
          </a:xfrm>
          <a:noFill/>
          <a:ln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BADB17-4D83-B882-FBF6-89F3083A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C32F2-6FE5-4CB2-BD7F-7957D7202443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F7076-5614-0C9F-1BC3-88D31946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50E3B-45A9-D479-8A9E-CEE02E6D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4298"/>
            <a:ext cx="7931224" cy="11430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Is This an Appropriate Scaffolding?</a:t>
            </a:r>
            <a:br>
              <a:rPr lang="en-US" sz="4000" b="1" dirty="0"/>
            </a:br>
            <a:r>
              <a:rPr lang="ar-EG" sz="2000" b="1" dirty="0"/>
              <a:t>السقالات</a:t>
            </a:r>
            <a:endParaRPr lang="en-US" sz="2000" b="1" dirty="0"/>
          </a:p>
        </p:txBody>
      </p:sp>
      <p:pic>
        <p:nvPicPr>
          <p:cNvPr id="152580" name="Picture 4" descr="[]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95538" y="1357299"/>
            <a:ext cx="7010400" cy="5254625"/>
          </a:xfrm>
          <a:noFill/>
          <a:ln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90361-54BF-1797-0640-7D7CEB72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8FE-9F53-49D7-857D-3832478824D5}" type="datetime8">
              <a:rPr lang="en-US" smtClean="0"/>
              <a:t>10/2/2026 5:51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180A4-5E38-9A5F-CEAE-486205CC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1: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BDAC7-C30C-1432-48E8-A80C0991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D5B9-D4B5-40DD-ABA1-74347BE6F8E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6CC0C-0C3A-5B35-0F02-75F891A0CA93}"/>
              </a:ext>
            </a:extLst>
          </p:cNvPr>
          <p:cNvSpPr txBox="1"/>
          <p:nvPr/>
        </p:nvSpPr>
        <p:spPr>
          <a:xfrm>
            <a:off x="228600" y="835623"/>
            <a:ext cx="5867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an important responsibility of students in a computer laboratory?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Ignoring damaged equipment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Reporting unsafe conditions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Repairing electrical equipment without authorization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Disabling safety systems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8C20BD-C2CB-3927-B2AC-3C727FC5932A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BD55C7-B20F-6C30-7F09-BABB5D621617}"/>
              </a:ext>
            </a:extLst>
          </p:cNvPr>
          <p:cNvSpPr txBox="1"/>
          <p:nvPr/>
        </p:nvSpPr>
        <p:spPr>
          <a:xfrm>
            <a:off x="228600" y="4057233"/>
            <a:ext cx="5867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has responsibility for workplace safety?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Only the safety officer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Only the manager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Only the employees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Everyone has responsibilities appropriate to their role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45CF5-F59F-A5ED-A4B1-1ABDC1276161}"/>
              </a:ext>
            </a:extLst>
          </p:cNvPr>
          <p:cNvSpPr txBox="1"/>
          <p:nvPr/>
        </p:nvSpPr>
        <p:spPr>
          <a:xfrm>
            <a:off x="6284627" y="583506"/>
            <a:ext cx="5678773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a safety culture?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A collection of computer software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Shared attitudes, values, behaviors, and practices concerning safety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A type of emergency alarm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A method of calculating salary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B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59135-F66D-DEE8-C207-06F41C00917A}"/>
              </a:ext>
            </a:extLst>
          </p:cNvPr>
          <p:cNvSpPr txBox="1"/>
          <p:nvPr/>
        </p:nvSpPr>
        <p:spPr>
          <a:xfrm>
            <a:off x="6284627" y="3723191"/>
            <a:ext cx="5542612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behavior demonstrates good safety culture?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Reporting hazards promptly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Ignoring warning signs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Removing protective equipment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Hiding accidents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A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2F649-FCFE-F4DF-BB23-F5F59F5A0172}"/>
              </a:ext>
            </a:extLst>
          </p:cNvPr>
          <p:cNvSpPr txBox="1"/>
          <p:nvPr/>
        </p:nvSpPr>
        <p:spPr>
          <a:xfrm>
            <a:off x="869430" y="179882"/>
            <a:ext cx="52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1172792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9B28BDB-1B57-D037-7AC1-97DB9FD5520B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21E9DE-1A7D-03FD-60AD-B5E1203EFC70}"/>
              </a:ext>
            </a:extLst>
          </p:cNvPr>
          <p:cNvSpPr txBox="1"/>
          <p:nvPr/>
        </p:nvSpPr>
        <p:spPr>
          <a:xfrm>
            <a:off x="288561" y="861921"/>
            <a:ext cx="5482652" cy="300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 is personal responsibility important in occupational safety?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Safety depends only on management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Individual actions can prevent or contribute to accidents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It eliminates the need for safety procedures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It makes safety training unnecessary</a:t>
            </a:r>
          </a:p>
          <a:p>
            <a:pPr>
              <a:buNone/>
            </a:pPr>
            <a:r>
              <a:rPr lang="en-US" sz="22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481A3-6240-66CC-E383-E15490C962C7}"/>
              </a:ext>
            </a:extLst>
          </p:cNvPr>
          <p:cNvSpPr txBox="1"/>
          <p:nvPr/>
        </p:nvSpPr>
        <p:spPr>
          <a:xfrm>
            <a:off x="288561" y="4206426"/>
            <a:ext cx="548265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purpose of safety signs?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To decorate the workplace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To communicate hazards, warnings, instructions, or emergency information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To increase workplace productivity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To replace safety training completely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CFCD8-B960-4EF3-DBDE-8B9CAE4A63FD}"/>
              </a:ext>
            </a:extLst>
          </p:cNvPr>
          <p:cNvSpPr txBox="1"/>
          <p:nvPr/>
        </p:nvSpPr>
        <p:spPr>
          <a:xfrm>
            <a:off x="6420789" y="861921"/>
            <a:ext cx="548265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color is commonly associated with prohibition or danger in safety signs?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Green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Blue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White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435CE-3298-1D6D-6162-8B67346D06D8}"/>
              </a:ext>
            </a:extLst>
          </p:cNvPr>
          <p:cNvSpPr txBox="1"/>
          <p:nvPr/>
        </p:nvSpPr>
        <p:spPr>
          <a:xfrm>
            <a:off x="6269636" y="3661269"/>
            <a:ext cx="563380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color is commonly associated with mandatory safety instructions?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Green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Blue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Yellow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Red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F6681E-7E2B-1F15-4D20-2E9A0769FC8C}"/>
              </a:ext>
            </a:extLst>
          </p:cNvPr>
          <p:cNvSpPr txBox="1"/>
          <p:nvPr/>
        </p:nvSpPr>
        <p:spPr>
          <a:xfrm>
            <a:off x="869430" y="179882"/>
            <a:ext cx="52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2532320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57231A-7A2D-FBFB-B94E-85C2F95B6158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F1806A1-49CA-A40C-9036-ACF2A1F85B19}"/>
              </a:ext>
            </a:extLst>
          </p:cNvPr>
          <p:cNvSpPr txBox="1"/>
          <p:nvPr/>
        </p:nvSpPr>
        <p:spPr>
          <a:xfrm>
            <a:off x="303550" y="908714"/>
            <a:ext cx="5527622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color is commonly associated with warning signs?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Yellow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Blue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Green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Black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A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6790-B325-D136-F55F-060909F84F12}"/>
              </a:ext>
            </a:extLst>
          </p:cNvPr>
          <p:cNvSpPr txBox="1"/>
          <p:nvPr/>
        </p:nvSpPr>
        <p:spPr>
          <a:xfrm>
            <a:off x="243590" y="3815208"/>
            <a:ext cx="564754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safety signs are commonly used to indicate: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Prohibition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Warning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Safe conditions or emergency escape information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Mandatory actions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Answer: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072AF-7EE8-91C9-B7EA-816A845D3B3F}"/>
              </a:ext>
            </a:extLst>
          </p:cNvPr>
          <p:cNvSpPr txBox="1"/>
          <p:nvPr/>
        </p:nvSpPr>
        <p:spPr>
          <a:xfrm>
            <a:off x="6420789" y="215492"/>
            <a:ext cx="5527620" cy="300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primary objective of safety training?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To teach workers how to ignore hazards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To develop knowledge and skills for working safely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To eliminate the need for supervision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To increase workplace noise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B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1C819-8CF6-8E9A-3717-4D5DBE6911B2}"/>
              </a:ext>
            </a:extLst>
          </p:cNvPr>
          <p:cNvSpPr txBox="1"/>
          <p:nvPr/>
        </p:nvSpPr>
        <p:spPr>
          <a:xfrm>
            <a:off x="6300868" y="3394580"/>
            <a:ext cx="5647541" cy="300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 should emergency exits remain unobstructed?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To improve the appearance of the workplace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To allow rapid and safe evacuation during emergencies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To provide additional storage space</a:t>
            </a: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To reduce ventilation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B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9A312-4E6E-835E-C696-DB64A2C5F4C9}"/>
              </a:ext>
            </a:extLst>
          </p:cNvPr>
          <p:cNvSpPr txBox="1"/>
          <p:nvPr/>
        </p:nvSpPr>
        <p:spPr>
          <a:xfrm>
            <a:off x="869430" y="179882"/>
            <a:ext cx="52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372492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20D7FFA-3D9E-5B79-0A0A-A09BC3851157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288461F-672B-A084-FDCF-3CC8133884B4}"/>
              </a:ext>
            </a:extLst>
          </p:cNvPr>
          <p:cNvSpPr txBox="1"/>
          <p:nvPr/>
        </p:nvSpPr>
        <p:spPr>
          <a:xfrm>
            <a:off x="258580" y="846931"/>
            <a:ext cx="5647544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of the following best demonstrates safe behavior in a technology workplace?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Eating beside electronic equipment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Blocking emergency exits with equipment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Reporting hazards and following established procedures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Using damaged electrical cables</a:t>
            </a:r>
          </a:p>
          <a:p>
            <a:pPr>
              <a:buNone/>
            </a:pPr>
            <a:r>
              <a:rPr lang="en-US" sz="23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C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9BC55-7613-0279-64D8-1B89B3BB49B5}"/>
              </a:ext>
            </a:extLst>
          </p:cNvPr>
          <p:cNvSpPr txBox="1"/>
          <p:nvPr/>
        </p:nvSpPr>
        <p:spPr>
          <a:xfrm>
            <a:off x="6285878" y="846931"/>
            <a:ext cx="5906122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of the following is an example of a cybersecurity-related workplace hazard?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An unsecured computer containing sensitive information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A properly adjusted office chair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A clearly marked emergency exit</a:t>
            </a:r>
            <a:b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Adequate laboratory lighting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Correct Answer: A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B7FF2-D25F-59D1-A505-88A4003FCB64}"/>
              </a:ext>
            </a:extLst>
          </p:cNvPr>
          <p:cNvSpPr txBox="1"/>
          <p:nvPr/>
        </p:nvSpPr>
        <p:spPr>
          <a:xfrm>
            <a:off x="869430" y="179882"/>
            <a:ext cx="52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276649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1886</Words>
  <Application>Microsoft Office PowerPoint</Application>
  <PresentationFormat>Widescreen</PresentationFormat>
  <Paragraphs>372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Office Theme</vt:lpstr>
      <vt:lpstr>Health and Safety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 This An Appropriate Hard Hat?</vt:lpstr>
      <vt:lpstr>Is This An Appropriate Respirator?</vt:lpstr>
      <vt:lpstr>Is This an Appropriate Scaffolding? السقالات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Sayed AbdelSalam</dc:creator>
  <cp:lastModifiedBy>Hussein Sayed AbdelSalam</cp:lastModifiedBy>
  <cp:revision>12</cp:revision>
  <dcterms:created xsi:type="dcterms:W3CDTF">2026-09-25T04:38:41Z</dcterms:created>
  <dcterms:modified xsi:type="dcterms:W3CDTF">2026-10-02T16:06:27Z</dcterms:modified>
</cp:coreProperties>
</file>